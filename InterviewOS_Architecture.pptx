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InterviewOS — AI-powered voice interview platform for PM roles, built on Agora Conversational AI v2 for the EchoSphere Agora Hackathon.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Overview: two personas, real-time voice via Agora, live evidence tracking, AI orchestration, persona swapping, and feedback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stack: 4 Agora-powered components (highlighted), plus Groq LLM, FastAPI, vanilla frontend, and ngrok. Key insight: server never touches raw audio.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architecture: Browser -&gt; Agora Cloud (STT/TTS) -&gt; Custom LLM Callback -&gt; Evidence Extractor + Orchestrator in parallel -&gt; SSE response back to Agora -&gt; TTS audio to candidate.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AI personas: Maya (warm Senior PM, covers product/customer/metrics/prioritization) and Raj (blunt VP, covers execution/leadership/communication). Each is a separate Agora agent with distinct TTS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Orchestration: parallel Evidence Extractor + Orchestrator via asyncio.gather(). 9 actions, 3 of which (hand_off, cameo, wrap_up) trigger Agora agent swaps.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Agora integration surfaces: REST API for agent lifecycle, custom LLM callback endpoint, browser RTC client, and persona swap mechanic.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voice interview lifecycle, 8 steps. Steps involving Agora (token gen, agent start, RTC join, STT callback, TTS synthesis, agent swap) are highlighted.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InterviewOS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Voice-Native AI Mock Interviewer for PM Roles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Agora Conversational AI v2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0A8FE6">
              <a:alpha val="20000"/>
            </a:srgbClr>
          </a:solidFill>
          <a:ln w="10160">
            <a:solidFill>
              <a:srgbClr val="0A8FE6">
                <a:alpha val="5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ConvAI v2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32004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1BA89C">
              <a:alpha val="20000"/>
            </a:srgbClr>
          </a:solidFill>
          <a:ln w="10160">
            <a:solidFill>
              <a:srgbClr val="1BA89C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EchoSphere Hackathon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InterviewOS Does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voice-native AI interviewer that conducts realistic PM mock interviews with two AI personas, builds a live evidence map, and generates competency-based feedback.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228600" cy="228600"/>
          </a:xfrm>
          <a:prstGeom prst="ellipse">
            <a:avLst/>
          </a:prstGeom>
          <a:solidFill>
            <a:srgbClr val="1BA89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19751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Personas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2128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(warm PM) and Raj (blunt VP) with distinct voices and styles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2011680"/>
            <a:ext cx="228600" cy="228600"/>
          </a:xfrm>
          <a:prstGeom prst="ellipse">
            <a:avLst/>
          </a:prstGeom>
          <a:solidFill>
            <a:srgbClr val="0A8F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57800" y="19751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2128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 audio via Agora RTC with barge-in and echo suppression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063240"/>
            <a:ext cx="228600" cy="22860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34440" y="302666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Evidence Map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644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claims, evidence, gaps, contradictions across 6 competencies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063240"/>
            <a:ext cx="228600" cy="228600"/>
          </a:xfrm>
          <a:prstGeom prst="ellipse">
            <a:avLst/>
          </a:prstGeom>
          <a:solidFill>
            <a:srgbClr val="E061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57800" y="302666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9-Action Orchestrator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2644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decides: follow-up, probe, challenge, advance, cameo, hand-off...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114800"/>
            <a:ext cx="228600" cy="228600"/>
          </a:xfrm>
          <a:prstGeom prst="ellipse">
            <a:avLst/>
          </a:prstGeom>
          <a:solidFill>
            <a:srgbClr val="0A8FE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34440" y="40782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Swaps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3159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Hot-swap Agora agents mid-interview for hand-offs and cameos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9319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4114800"/>
            <a:ext cx="228600" cy="228600"/>
          </a:xfrm>
          <a:prstGeom prst="ellipse">
            <a:avLst/>
          </a:prstGeom>
          <a:solidFill>
            <a:srgbClr val="1BA89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57800" y="40782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Report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3159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scores, strengths, improvements, hire recommendation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A8FE6">
              <a:alpha val="20000"/>
            </a:srgbClr>
          </a:solidFill>
          <a:ln w="19050">
            <a:solidFill>
              <a:srgbClr val="0A8F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RTC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ConvAI v2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audio, agent orchestration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A8FE6">
              <a:alpha val="20000"/>
            </a:srgbClr>
          </a:solidFill>
          <a:ln w="19050">
            <a:solidFill>
              <a:srgbClr val="0A8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2984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SDK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Web SDK 4.x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965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join, mic, volume indicators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A8FE6">
              <a:alpha val="20000"/>
            </a:srgbClr>
          </a:solidFill>
          <a:ln w="19050">
            <a:solidFill>
              <a:srgbClr val="0A8F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2984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65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Agora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11887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A8FE6">
              <a:alpha val="20000"/>
            </a:srgbClr>
          </a:solidFill>
          <a:ln w="19050">
            <a:solidFill>
              <a:srgbClr val="0A8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12984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Speech 2.8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1965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persona voices, managed by Agora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52D4A"/>
          </a:solidFill>
          <a:ln w="10160">
            <a:solidFill>
              <a:srgbClr val="2D45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9443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1821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611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openai/gpt-oss-20b, async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06040" y="28346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52D4A"/>
          </a:solidFill>
          <a:ln w="10160">
            <a:solidFill>
              <a:srgbClr val="2D45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43200" y="29443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0" y="31821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3611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async, session management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8346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52D4A"/>
          </a:solidFill>
          <a:ln w="10160">
            <a:solidFill>
              <a:srgbClr val="2D45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92040" y="29443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1821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HTML/CSS/JS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3611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 meeting UI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03720" y="28346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52D4A"/>
          </a:solidFill>
          <a:ln w="10160">
            <a:solidFill>
              <a:srgbClr val="2D45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40880" y="29443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31821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3611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domain for callbacks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526280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0A8FE6">
              <a:alpha val="1500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handles the entire voice pipeline (STT + TTS + audio transport). Our server only sees text in and text out.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from candidate voice to AI response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5F6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Browser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Web SDK 4.x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voice.js + index.html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783080"/>
            <a:ext cx="914400" cy="0"/>
          </a:xfrm>
          <a:prstGeom prst="line">
            <a:avLst/>
          </a:prstGeom>
          <a:noFill/>
          <a:ln w="25400">
            <a:solidFill>
              <a:srgbClr val="0A8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0" y="1554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audio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 flipH="1">
            <a:off x="2377440" y="2148840"/>
            <a:ext cx="914400" cy="0"/>
          </a:xfrm>
          <a:prstGeom prst="line">
            <a:avLst/>
          </a:prstGeom>
          <a:noFill/>
          <a:ln w="19050">
            <a:solidFill>
              <a:srgbClr val="0A8FE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2468880" y="2240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audio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0A8FE6">
              <a:alpha val="10000"/>
            </a:srgbClr>
          </a:solidFill>
          <a:ln w="19050">
            <a:solidFill>
              <a:srgbClr val="0A8F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Cloud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1737360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0D8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764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STT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737360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0D8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764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TTS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286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join / leave / swap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52160" y="1783080"/>
            <a:ext cx="731520" cy="0"/>
          </a:xfrm>
          <a:prstGeom prst="line">
            <a:avLst/>
          </a:prstGeom>
          <a:noFill/>
          <a:ln w="25400">
            <a:solidFill>
              <a:srgbClr val="1BA89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97880" y="1554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callback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 flipH="1">
            <a:off x="5852160" y="2148840"/>
            <a:ext cx="731520" cy="0"/>
          </a:xfrm>
          <a:prstGeom prst="line">
            <a:avLst/>
          </a:prstGeom>
          <a:noFill/>
          <a:ln w="12700">
            <a:solidFill>
              <a:srgbClr val="546373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5897880" y="2240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583680" y="137160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1444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175564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agora_agent.py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agora_llm_callback.py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agora_routes.py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3063240"/>
            <a:ext cx="7680960" cy="1371600"/>
          </a:xfrm>
          <a:prstGeom prst="roundRect">
            <a:avLst>
              <a:gd name="adj" fmla="val 5333"/>
            </a:avLst>
          </a:prstGeom>
          <a:solidFill>
            <a:srgbClr val="F5F6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LLM Callback Pipeline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33649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/agora/llm/{session_id} — called by Agora on every candidate utterance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97280" y="365760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0A8FE6">
              <a:alpha val="12000"/>
            </a:srgbClr>
          </a:solidFill>
          <a:ln w="12700">
            <a:solidFill>
              <a:srgbClr val="0A8F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97280" y="3657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+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365760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1BA89C">
              <a:alpha val="12000"/>
            </a:srgbClr>
          </a:solidFill>
          <a:ln w="12700">
            <a:solidFill>
              <a:srgbClr val="1BA89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26080" y="3657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65760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7C5CFC">
              <a:alpha val="12000"/>
            </a:srgbClr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54880" y="3657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0" y="365760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546373">
              <a:alpha val="12000"/>
            </a:srgbClr>
          </a:solidFill>
          <a:ln w="12700">
            <a:solidFill>
              <a:srgbClr val="54637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0" y="3657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Agora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68880" y="3950208"/>
            <a:ext cx="457200" cy="0"/>
          </a:xfrm>
          <a:prstGeom prst="line">
            <a:avLst/>
          </a:prstGeom>
          <a:noFill/>
          <a:ln w="15240">
            <a:solidFill>
              <a:srgbClr val="54637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3950208"/>
            <a:ext cx="457200" cy="0"/>
          </a:xfrm>
          <a:prstGeom prst="line">
            <a:avLst/>
          </a:prstGeom>
          <a:noFill/>
          <a:ln w="15240">
            <a:solidFill>
              <a:srgbClr val="54637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3950208"/>
            <a:ext cx="457200" cy="0"/>
          </a:xfrm>
          <a:prstGeom prst="line">
            <a:avLst/>
          </a:prstGeom>
          <a:noFill/>
          <a:ln w="15240">
            <a:solidFill>
              <a:srgbClr val="54637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91840" y="3547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asyncio.gather()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74720" y="457200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E0614A">
              <a:alpha val="10000"/>
            </a:srgbClr>
          </a:solidFill>
          <a:ln w="12700">
            <a:solidFill>
              <a:srgbClr val="E061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74720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API — openai/gpt-oss-20b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AI Personas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persona runs as a separate Agora Conversational AI agent with its own TTS voice and system prompt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BA89C">
              <a:alpha val="8000"/>
            </a:srgbClr>
          </a:solidFill>
          <a:ln w="19050">
            <a:solidFill>
              <a:srgbClr val="1BA89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A8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Product Manager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sharp, probing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Voice: English_captivating_female1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Product Sense, Customer Understanding, Metrics, Prioritization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the first half of the interview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invite Raj for a one-question cameo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off to Raj when her areas are covered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E0614A">
              <a:alpha val="8000"/>
            </a:srgbClr>
          </a:solidFill>
          <a:ln w="19050">
            <a:solidFill>
              <a:srgbClr val="E061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6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Director / VP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Blunt, skeptical, direct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6060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Voice: English_confident_male1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Execution, Leadership, Communication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over the second half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Maya's evidence summary at hand-off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up and triggers the feedback report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Engine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utterance triggers two parallel LLM calls via asyncio.gather()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BA89C">
              <a:alpha val="15000"/>
            </a:srgbClr>
          </a:solidFill>
          <a:ln w="15240">
            <a:solidFill>
              <a:srgbClr val="1BA8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274320" cy="274320"/>
          </a:xfrm>
          <a:prstGeom prst="ellipse">
            <a:avLst/>
          </a:prstGeom>
          <a:solidFill>
            <a:srgbClr val="1BA89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Extractor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candidate answers against the evidence map. Extracts claims, evidence, gaps, vague statements, contradictions. Scores each competency area (1-5). Cross-references resume.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7C5CFC">
              <a:alpha val="15000"/>
            </a:srgbClr>
          </a:solidFill>
          <a:ln w="15240">
            <a:solidFill>
              <a:srgbClr val="7C5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1600200"/>
            <a:ext cx="274320" cy="27432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492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011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evidence map, coverage, scores, turn count, phase. Decides the next action and writes the question in the current persona's voice.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Orchestrator Actions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152D4A"/>
          </a:solidFill>
          <a:ln w="10160">
            <a:solidFill>
              <a:srgbClr val="2D45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follow_up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374904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152D4A"/>
          </a:solidFill>
          <a:ln w="10160">
            <a:solidFill>
              <a:srgbClr val="2D45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9456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374904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152D4A"/>
          </a:solidFill>
          <a:ln w="10160">
            <a:solidFill>
              <a:srgbClr val="2D45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374904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152D4A"/>
          </a:solidFill>
          <a:ln w="10160">
            <a:solidFill>
              <a:srgbClr val="2D45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374904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152D4A"/>
          </a:solidFill>
          <a:ln w="10160">
            <a:solidFill>
              <a:srgbClr val="2D45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152D4A"/>
          </a:solidFill>
          <a:ln w="10160">
            <a:solidFill>
              <a:srgbClr val="2D45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begin_scenario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94560" y="420624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0A8FE6"/>
          </a:solidFill>
          <a:ln w="10160">
            <a:solidFill>
              <a:srgbClr val="0A8F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9456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hand_off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31920" y="420624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0A8FE6"/>
          </a:solidFill>
          <a:ln w="10160">
            <a:solidFill>
              <a:srgbClr val="0A8F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3192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420624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0A8FE6"/>
          </a:solidFill>
          <a:ln w="10160">
            <a:solidFill>
              <a:srgbClr val="0A8F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wrap_up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actions trigger Agora agent swaps (stop current agent, start new one with different voice + prompt)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Integration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integration surfaces between InterviewOS and Agora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5F6F8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228600" cy="228600"/>
          </a:xfrm>
          <a:prstGeom prst="ellipse">
            <a:avLst/>
          </a:prstGeom>
          <a:solidFill>
            <a:srgbClr val="0A8F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Lifecycle (REST API)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creates, swaps, and stops Agora agents via /v2/join and /leave endpoints. Each agent gets a persona-specific TTS voice and custom LLM callback URL.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agora_agent.py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5F6F8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600200"/>
            <a:ext cx="228600" cy="228600"/>
          </a:xfrm>
          <a:prstGeom prst="ellipse">
            <a:avLst/>
          </a:prstGeom>
          <a:solidFill>
            <a:srgbClr val="1BA89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663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LLM Callback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POSTs to /agora/llm/{session_id} with conversation messages. Server deduplicates, merges, runs the pipeline, streams back SSE.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agora_llm_callback.py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5F6F8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429000"/>
            <a:ext cx="228600" cy="228600"/>
          </a:xfrm>
          <a:prstGeom prst="ellipse">
            <a:avLst/>
          </a:prstGeom>
          <a:solidFill>
            <a:srgbClr val="0A8FE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Client (Browser)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joins Agora RTC channel, publishes mic track, subscribes to agent audio, uses volume-indicator polling for live UI states.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static/voice.js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24612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5F6F8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429000"/>
            <a:ext cx="228600" cy="228600"/>
          </a:xfrm>
          <a:prstGeom prst="ellipse">
            <a:avLst/>
          </a:prstGeom>
          <a:solidFill>
            <a:srgbClr val="E061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66360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Swap Mechanic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hand_off or cameo: stop current agent, wait 4s, start new agent with different voice ID and updated system prompt.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agora_agent.py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Interview Lifecycle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051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enters name/email, optionally uploads resume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35608"/>
            <a:ext cx="8046720" cy="0"/>
          </a:xfrm>
          <a:prstGeom prst="line">
            <a:avLst/>
          </a:prstGeom>
          <a:noFill/>
          <a:ln w="6350">
            <a:solidFill>
              <a:srgbClr val="2D45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270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5270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"Start" — server generates Agora RTC token, starts Maya's agent with greeting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11096"/>
            <a:ext cx="8046720" cy="0"/>
          </a:xfrm>
          <a:prstGeom prst="line">
            <a:avLst/>
          </a:prstGeom>
          <a:noFill/>
          <a:ln w="6350">
            <a:solidFill>
              <a:srgbClr val="2D45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025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00253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joins Agora RTC channel, publishes mic, subscribes to agent audio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86584"/>
            <a:ext cx="8046720" cy="0"/>
          </a:xfrm>
          <a:prstGeom prst="line">
            <a:avLst/>
          </a:prstGeom>
          <a:noFill/>
          <a:ln w="6350">
            <a:solidFill>
              <a:srgbClr val="2D45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47802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47802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speaks — Agora transcribes (Deepgram) and POSTs to LLM callback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62072"/>
            <a:ext cx="8046720" cy="0"/>
          </a:xfrm>
          <a:prstGeom prst="line">
            <a:avLst/>
          </a:prstGeom>
          <a:noFill/>
          <a:ln w="6350">
            <a:solidFill>
              <a:srgbClr val="2D45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9535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9535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runs Evidence Extractor + Orchestrator in parallel, streams response back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8046720" cy="0"/>
          </a:xfrm>
          <a:prstGeom prst="line">
            <a:avLst/>
          </a:prstGeom>
          <a:noFill/>
          <a:ln w="6350">
            <a:solidFill>
              <a:srgbClr val="2D45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4290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429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synthesizes response (MiniMax TTS) and plays to candidate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13048"/>
            <a:ext cx="8046720" cy="0"/>
          </a:xfrm>
          <a:prstGeom prst="line">
            <a:avLst/>
          </a:prstGeom>
          <a:noFill/>
          <a:ln w="6350">
            <a:solidFill>
              <a:srgbClr val="2D45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9044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90448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hand_off / cameo — server swaps Agora agent (new voice + prompt)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88536"/>
            <a:ext cx="8046720" cy="0"/>
          </a:xfrm>
          <a:prstGeom prst="line">
            <a:avLst/>
          </a:prstGeom>
          <a:noFill/>
          <a:ln w="6350">
            <a:solidFill>
              <a:srgbClr val="2D45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3799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37997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wrap_up — stops agent, generates competency-based feedback report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709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highlighted in blue involve Agora directly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8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InterviewOS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Voice-native AI mock interviewer built on Agora Conversational AI v2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EchoSphere Agora Hackathon  |  Python FastAPI  |  Groq LLM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InterviewOS Architecture</dc:title>
  <dc:subject>PptxGenJS Presentation</dc:subject>
  <dc:creator>InterviewOS</dc:creator>
  <cp:lastModifiedBy>InterviewOS</cp:lastModifiedBy>
  <cp:revision>1</cp:revision>
  <dcterms:created xsi:type="dcterms:W3CDTF">2026-09-03T16:20:44Z</dcterms:created>
  <dcterms:modified xsi:type="dcterms:W3CDTF">2026-09-03T16:20:44Z</dcterms:modified>
</cp:coreProperties>
</file>